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71" r:id="rId10"/>
    <p:sldId id="265" r:id="rId11"/>
    <p:sldId id="266" r:id="rId12"/>
    <p:sldId id="267" r:id="rId13"/>
    <p:sldId id="268" r:id="rId14"/>
    <p:sldId id="260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74"/>
  </p:normalViewPr>
  <p:slideViewPr>
    <p:cSldViewPr snapToGrid="0" snapToObjects="1">
      <p:cViewPr varScale="1">
        <p:scale>
          <a:sx n="104" d="100"/>
          <a:sy n="104" d="100"/>
        </p:scale>
        <p:origin x="23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3/3/20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3/3/20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3/3/20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87B96-0732-0D4B-A838-491DD2F9A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198450"/>
            <a:ext cx="7766936" cy="1103355"/>
          </a:xfrm>
        </p:spPr>
        <p:txBody>
          <a:bodyPr/>
          <a:lstStyle/>
          <a:p>
            <a:r>
              <a:rPr lang="en-US" dirty="0"/>
              <a:t>RECOMMENDER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0EA2F-434D-E84C-A062-55C5A7AF5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301805"/>
            <a:ext cx="7766936" cy="589259"/>
          </a:xfrm>
        </p:spPr>
        <p:txBody>
          <a:bodyPr/>
          <a:lstStyle/>
          <a:p>
            <a:r>
              <a:rPr lang="en-US" dirty="0"/>
              <a:t>Online Retail</a:t>
            </a:r>
          </a:p>
        </p:txBody>
      </p:sp>
    </p:spTree>
    <p:extLst>
      <p:ext uri="{BB962C8B-B14F-4D97-AF65-F5344CB8AC3E}">
        <p14:creationId xmlns:p14="http://schemas.microsoft.com/office/powerpoint/2010/main" val="1720811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079A-C471-B74A-A24C-A20611B8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37098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C9F10-54CD-334A-9FCE-58C60BFF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3157"/>
            <a:ext cx="8991960" cy="486383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is a Recommender System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Why do we need a Recommender System</a:t>
            </a:r>
          </a:p>
          <a:p>
            <a:endParaRPr lang="en-US" dirty="0"/>
          </a:p>
          <a:p>
            <a:r>
              <a:rPr lang="en-US" dirty="0"/>
              <a:t>What’s with the Data </a:t>
            </a:r>
          </a:p>
          <a:p>
            <a:pPr lvl="1"/>
            <a:r>
              <a:rPr lang="en-US" dirty="0"/>
              <a:t>Exploratory Data Analysis</a:t>
            </a:r>
          </a:p>
          <a:p>
            <a:pPr lvl="1"/>
            <a:r>
              <a:rPr lang="en-US" dirty="0"/>
              <a:t>Data Cleanup and Preprocessing</a:t>
            </a:r>
          </a:p>
          <a:p>
            <a:endParaRPr lang="en-US" dirty="0"/>
          </a:p>
          <a:p>
            <a:r>
              <a:rPr lang="en-US" dirty="0"/>
              <a:t>Inside Story</a:t>
            </a:r>
          </a:p>
          <a:p>
            <a:pPr lvl="1"/>
            <a:r>
              <a:rPr lang="en-US" dirty="0"/>
              <a:t>Insights into different approaches</a:t>
            </a:r>
          </a:p>
          <a:p>
            <a:endParaRPr lang="en-US" dirty="0"/>
          </a:p>
          <a:p>
            <a:r>
              <a:rPr lang="en-US" dirty="0"/>
              <a:t>Demo</a:t>
            </a:r>
          </a:p>
          <a:p>
            <a:endParaRPr lang="en-US" dirty="0"/>
          </a:p>
          <a:p>
            <a:r>
              <a:rPr lang="en-US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93107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26ED2-A908-1945-A307-25CB9C034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and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9EF75-15BA-A44A-817F-2EC2B80E9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1484"/>
            <a:ext cx="8709857" cy="44347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Internet and Data overload</a:t>
            </a:r>
          </a:p>
          <a:p>
            <a:endParaRPr lang="en-US" dirty="0"/>
          </a:p>
          <a:p>
            <a:r>
              <a:rPr lang="en-US" dirty="0"/>
              <a:t>Diverse set of Customers</a:t>
            </a:r>
          </a:p>
          <a:p>
            <a:endParaRPr lang="en-US" dirty="0"/>
          </a:p>
          <a:p>
            <a:r>
              <a:rPr lang="en-US" dirty="0"/>
              <a:t>Helps understand the ecosystem better and drive revenue</a:t>
            </a:r>
          </a:p>
          <a:p>
            <a:endParaRPr lang="en-US" dirty="0"/>
          </a:p>
          <a:p>
            <a:r>
              <a:rPr lang="en-US" dirty="0"/>
              <a:t>Personalization</a:t>
            </a:r>
          </a:p>
          <a:p>
            <a:endParaRPr lang="en-US" dirty="0"/>
          </a:p>
          <a:p>
            <a:r>
              <a:rPr lang="en-IN" dirty="0"/>
              <a:t>Identify new opportunities for cross selling and upselling the products </a:t>
            </a:r>
          </a:p>
          <a:p>
            <a:endParaRPr lang="en-IN" dirty="0"/>
          </a:p>
          <a:p>
            <a:r>
              <a:rPr lang="en-IN" dirty="0"/>
              <a:t>Assortment arrangement </a:t>
            </a:r>
          </a:p>
          <a:p>
            <a:endParaRPr lang="en-IN" dirty="0"/>
          </a:p>
          <a:p>
            <a:r>
              <a:rPr lang="en-IN" dirty="0"/>
              <a:t>Drive marketing campaigns 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94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D607-A872-9142-9397-E85A1D7AD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5540"/>
          </a:xfrm>
        </p:spPr>
        <p:txBody>
          <a:bodyPr>
            <a:normAutofit fontScale="90000"/>
          </a:bodyPr>
          <a:lstStyle/>
          <a:p>
            <a:r>
              <a:rPr lang="en-US" dirty="0"/>
              <a:t>Data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849CD-F316-FC47-9BCA-A66BB8667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515"/>
            <a:ext cx="8596668" cy="472812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Exploratory Data Analysis (EDA)</a:t>
            </a:r>
          </a:p>
          <a:p>
            <a:pPr lvl="1"/>
            <a:r>
              <a:rPr lang="en-US" dirty="0"/>
              <a:t>UCI dataset for online retail</a:t>
            </a:r>
          </a:p>
          <a:p>
            <a:pPr lvl="1"/>
            <a:r>
              <a:rPr lang="en-US" dirty="0"/>
              <a:t>Half million records across 38 countries [model is build for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‘Germany’</a:t>
            </a:r>
            <a:r>
              <a:rPr lang="en-US" dirty="0"/>
              <a:t> region]</a:t>
            </a:r>
          </a:p>
          <a:p>
            <a:pPr lvl="1"/>
            <a:r>
              <a:rPr lang="en-US" dirty="0"/>
              <a:t>Sales and Return transactional data</a:t>
            </a:r>
          </a:p>
          <a:p>
            <a:pPr lvl="1"/>
            <a:r>
              <a:rPr lang="en-US" dirty="0"/>
              <a:t>United Kingdom contributes to 90% data</a:t>
            </a:r>
          </a:p>
          <a:p>
            <a:pPr lvl="1"/>
            <a:r>
              <a:rPr lang="en-US" dirty="0"/>
              <a:t>StockCode, CustomerID and Quantity as the key features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Data Cleanup and preprocessing</a:t>
            </a:r>
          </a:p>
          <a:p>
            <a:pPr lvl="1"/>
            <a:r>
              <a:rPr lang="en-US" dirty="0"/>
              <a:t>Segregate the data as sales and return transactions</a:t>
            </a:r>
          </a:p>
          <a:p>
            <a:pPr lvl="1"/>
            <a:r>
              <a:rPr lang="en-US" dirty="0"/>
              <a:t>Impute missing data (StockCode and Description)</a:t>
            </a:r>
          </a:p>
          <a:p>
            <a:pPr lvl="1"/>
            <a:r>
              <a:rPr lang="en-US" dirty="0"/>
              <a:t>Drop columns not adding value</a:t>
            </a:r>
          </a:p>
          <a:p>
            <a:pPr lvl="2"/>
            <a:r>
              <a:rPr lang="en-US" dirty="0"/>
              <a:t>Invoice Date, Country, </a:t>
            </a:r>
            <a:r>
              <a:rPr lang="en-US" dirty="0" err="1"/>
              <a:t>Unitprice</a:t>
            </a:r>
            <a:r>
              <a:rPr lang="en-US" dirty="0"/>
              <a:t>, InvoiceNo</a:t>
            </a:r>
          </a:p>
          <a:p>
            <a:pPr lvl="1"/>
            <a:r>
              <a:rPr lang="en-US" dirty="0"/>
              <a:t>Convert the columns (StockCode and CustomerID) to appropriate types</a:t>
            </a:r>
          </a:p>
          <a:p>
            <a:pPr lvl="1"/>
            <a:r>
              <a:rPr lang="en-US" dirty="0"/>
              <a:t>Filter </a:t>
            </a:r>
            <a:r>
              <a:rPr lang="en-US" dirty="0" err="1"/>
              <a:t>outliars</a:t>
            </a:r>
            <a:r>
              <a:rPr lang="en-US" dirty="0"/>
              <a:t> in quantity feature with the mean</a:t>
            </a:r>
          </a:p>
          <a:p>
            <a:pPr lvl="1"/>
            <a:r>
              <a:rPr lang="en-US" dirty="0"/>
              <a:t>Create mapper classes for StockCode, Description and Quantity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570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5C99-F767-3B41-9404-CC6A3CB1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D0DB9-7C24-4E4B-AD82-5B4AF3046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5302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Popularity based</a:t>
            </a:r>
          </a:p>
          <a:p>
            <a:endParaRPr lang="en-US" dirty="0"/>
          </a:p>
          <a:p>
            <a:r>
              <a:rPr lang="en-US" dirty="0"/>
              <a:t>Content based</a:t>
            </a:r>
          </a:p>
          <a:p>
            <a:endParaRPr lang="en-US" dirty="0"/>
          </a:p>
          <a:p>
            <a:r>
              <a:rPr lang="en-US" dirty="0"/>
              <a:t>Collaborative filtering</a:t>
            </a:r>
          </a:p>
          <a:p>
            <a:pPr lvl="1"/>
            <a:r>
              <a:rPr lang="en-US" dirty="0"/>
              <a:t>Item based</a:t>
            </a:r>
          </a:p>
          <a:p>
            <a:pPr lvl="1"/>
            <a:r>
              <a:rPr lang="en-US" dirty="0"/>
              <a:t>User based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Hybrid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Market Basket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251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E333F-36F7-2548-924F-D3101E0EA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Popularity 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68E30-C537-3146-801A-B43FFF94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4660"/>
            <a:ext cx="9257498" cy="4609070"/>
          </a:xfrm>
        </p:spPr>
        <p:txBody>
          <a:bodyPr>
            <a:normAutofit/>
          </a:bodyPr>
          <a:lstStyle/>
          <a:p>
            <a:r>
              <a:rPr lang="en-US" dirty="0"/>
              <a:t>Works with the Trending products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Solves cold start problem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Not personalized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When and How we have used ?</a:t>
            </a:r>
          </a:p>
          <a:p>
            <a:pPr marL="0" indent="0">
              <a:buNone/>
            </a:pP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en-US" dirty="0"/>
              <a:t>When the stockCode or the CustomerID is not found in the system, recommend the top trending products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Pick the top most selling items across the product line based on the quantity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190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ABC4-4955-854A-A084-48F802D9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950D9-3571-5341-8DF3-17A1AC461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0395"/>
            <a:ext cx="8787942" cy="4512060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IN" dirty="0"/>
              <a:t>Uses information about products or the users to model recommendations</a:t>
            </a:r>
          </a:p>
          <a:p>
            <a:endParaRPr lang="en-IN" dirty="0"/>
          </a:p>
          <a:p>
            <a:r>
              <a:rPr lang="en-IN" dirty="0"/>
              <a:t>Contents can be described using labels and labels are assigned weights</a:t>
            </a:r>
          </a:p>
          <a:p>
            <a:endParaRPr lang="en-IN" dirty="0"/>
          </a:p>
          <a:p>
            <a:r>
              <a:rPr lang="en-IN" dirty="0"/>
              <a:t>Nearest neighbours based on the weights are grouped as recommendations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When and How we have used ?</a:t>
            </a:r>
          </a:p>
          <a:p>
            <a:pPr marL="0" indent="0">
              <a:buNone/>
            </a:pP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en-IN" dirty="0"/>
              <a:t>Product description is used and implemented using term frequency vecto</a:t>
            </a:r>
            <a:r>
              <a:rPr lang="en-US" dirty="0"/>
              <a:t>rizer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Used in association with the item collaborative filtering </a:t>
            </a:r>
          </a:p>
        </p:txBody>
      </p:sp>
    </p:spTree>
    <p:extLst>
      <p:ext uri="{BB962C8B-B14F-4D97-AF65-F5344CB8AC3E}">
        <p14:creationId xmlns:p14="http://schemas.microsoft.com/office/powerpoint/2010/main" val="3401962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A1BFE-3095-164E-B9F6-CB61BB363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4357"/>
          </a:xfrm>
        </p:spPr>
        <p:txBody>
          <a:bodyPr/>
          <a:lstStyle/>
          <a:p>
            <a:r>
              <a:rPr lang="en-US" dirty="0"/>
              <a:t>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34346-41D9-C34A-8BBD-97EC0F375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1952"/>
            <a:ext cx="8596668" cy="4667702"/>
          </a:xfrm>
        </p:spPr>
        <p:txBody>
          <a:bodyPr>
            <a:normAutofit/>
          </a:bodyPr>
          <a:lstStyle/>
          <a:p>
            <a:r>
              <a:rPr lang="en-IN" dirty="0"/>
              <a:t>Solely based on the past interactions recorded between users and items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User-Item interaction matrix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Quantity of the item purchased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Item based and User based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sz="1900" b="1" dirty="0">
                <a:solidFill>
                  <a:schemeClr val="accent5">
                    <a:lumMod val="75000"/>
                  </a:schemeClr>
                </a:solidFill>
              </a:rPr>
              <a:t>What we have used?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KNN model – cosine similarity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17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71C851-672E-A645-B581-734CFE64B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95" y="833737"/>
            <a:ext cx="8919394" cy="499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47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F188E-3D1C-454B-840B-4AF904EF4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606" y="729049"/>
            <a:ext cx="8970663" cy="556054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Item based</a:t>
            </a:r>
          </a:p>
          <a:p>
            <a:pPr lvl="1"/>
            <a:r>
              <a:rPr lang="en-IN" dirty="0"/>
              <a:t>we find items similar to the ones the user already “positively” interacted with products (purchased x units of the product)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r>
              <a:rPr lang="en-IN" dirty="0"/>
              <a:t>two items are considered to be similar if most of the users have interacted with both of them in a similar way (purchased similar portion of quantity). 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r>
              <a:rPr lang="en-IN" dirty="0"/>
              <a:t>This method is said to be “item- centred” as it represent items based on interactions users had with them and evaluate distances between those items to make recommendations. </a:t>
            </a:r>
          </a:p>
          <a:p>
            <a:endParaRPr lang="en-US" dirty="0"/>
          </a:p>
          <a:p>
            <a:r>
              <a:rPr lang="en-US" b="1" dirty="0"/>
              <a:t>User based</a:t>
            </a:r>
          </a:p>
          <a:p>
            <a:pPr lvl="1"/>
            <a:r>
              <a:rPr lang="en-IN" dirty="0"/>
              <a:t>we find users who are similar based on “positively” interaction with products (purchased x units of the product)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r>
              <a:rPr lang="en-IN" dirty="0"/>
              <a:t>model will recommend items from top two neighbours who are 75% similar </a:t>
            </a:r>
            <a:r>
              <a:rPr lang="en-US" dirty="0"/>
              <a:t>(distance &gt; 0.75)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713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0E5B2-B092-7144-AB83-5A736B80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034" y="559304"/>
            <a:ext cx="2127650" cy="1320800"/>
          </a:xfrm>
        </p:spPr>
        <p:txBody>
          <a:bodyPr/>
          <a:lstStyle/>
          <a:p>
            <a:r>
              <a:rPr lang="en-US" dirty="0"/>
              <a:t>Hybrid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B022BBE1-7CE9-C443-87AE-9FDADE038AA7}"/>
              </a:ext>
            </a:extLst>
          </p:cNvPr>
          <p:cNvSpPr/>
          <p:nvPr/>
        </p:nvSpPr>
        <p:spPr>
          <a:xfrm>
            <a:off x="807661" y="3294171"/>
            <a:ext cx="1422604" cy="68923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16D81F5-6673-F645-B45E-80B6626D3BF5}"/>
              </a:ext>
            </a:extLst>
          </p:cNvPr>
          <p:cNvSpPr/>
          <p:nvPr/>
        </p:nvSpPr>
        <p:spPr>
          <a:xfrm>
            <a:off x="3669957" y="2051222"/>
            <a:ext cx="2372498" cy="1262083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CC89FADC-C2D8-F74A-B893-17B6E0FDFF64}"/>
              </a:ext>
            </a:extLst>
          </p:cNvPr>
          <p:cNvSpPr/>
          <p:nvPr/>
        </p:nvSpPr>
        <p:spPr>
          <a:xfrm>
            <a:off x="3669957" y="3682637"/>
            <a:ext cx="2372498" cy="887467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0B0693-EC52-7949-A363-E079EAB47477}"/>
              </a:ext>
            </a:extLst>
          </p:cNvPr>
          <p:cNvSpPr txBox="1"/>
          <p:nvPr/>
        </p:nvSpPr>
        <p:spPr>
          <a:xfrm>
            <a:off x="999980" y="3454120"/>
            <a:ext cx="8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A3D45D-2088-D245-A78F-57B494BDB741}"/>
              </a:ext>
            </a:extLst>
          </p:cNvPr>
          <p:cNvSpPr txBox="1"/>
          <p:nvPr/>
        </p:nvSpPr>
        <p:spPr>
          <a:xfrm>
            <a:off x="3941806" y="2359097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Collaborative </a:t>
            </a:r>
          </a:p>
          <a:p>
            <a:r>
              <a:rPr lang="en-US" dirty="0"/>
              <a:t>Filtering - Item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5D677B-B48F-9941-BF83-C03AAA7A8057}"/>
              </a:ext>
            </a:extLst>
          </p:cNvPr>
          <p:cNvSpPr txBox="1"/>
          <p:nvPr/>
        </p:nvSpPr>
        <p:spPr>
          <a:xfrm>
            <a:off x="3912988" y="3941704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Content based</a:t>
            </a: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E36472EB-9E91-7547-A14A-EA0DECBA0895}"/>
              </a:ext>
            </a:extLst>
          </p:cNvPr>
          <p:cNvSpPr/>
          <p:nvPr/>
        </p:nvSpPr>
        <p:spPr>
          <a:xfrm>
            <a:off x="3669957" y="4992027"/>
            <a:ext cx="2372498" cy="887467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154B5C-AF2B-9C4E-BD1B-C9ABDC36AF2B}"/>
              </a:ext>
            </a:extLst>
          </p:cNvPr>
          <p:cNvSpPr txBox="1"/>
          <p:nvPr/>
        </p:nvSpPr>
        <p:spPr>
          <a:xfrm>
            <a:off x="3912988" y="5251094"/>
            <a:ext cx="1897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Popularity based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BCF55F2A-46F1-3D45-9249-54516DBC273E}"/>
              </a:ext>
            </a:extLst>
          </p:cNvPr>
          <p:cNvSpPr/>
          <p:nvPr/>
        </p:nvSpPr>
        <p:spPr>
          <a:xfrm>
            <a:off x="3113903" y="1458943"/>
            <a:ext cx="3484606" cy="5177481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D099F1-0F49-E844-A0E3-70B73E755870}"/>
              </a:ext>
            </a:extLst>
          </p:cNvPr>
          <p:cNvCxnSpPr>
            <a:stCxn id="4" idx="3"/>
          </p:cNvCxnSpPr>
          <p:nvPr/>
        </p:nvCxnSpPr>
        <p:spPr>
          <a:xfrm>
            <a:off x="2230265" y="3638787"/>
            <a:ext cx="881010" cy="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15D7CE-28C6-674A-8469-D4C715FDF6A0}"/>
              </a:ext>
            </a:extLst>
          </p:cNvPr>
          <p:cNvCxnSpPr/>
          <p:nvPr/>
        </p:nvCxnSpPr>
        <p:spPr>
          <a:xfrm>
            <a:off x="6601137" y="3673623"/>
            <a:ext cx="881010" cy="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ame 15">
            <a:extLst>
              <a:ext uri="{FF2B5EF4-FFF2-40B4-BE49-F238E27FC236}">
                <a16:creationId xmlns:a16="http://schemas.microsoft.com/office/drawing/2014/main" id="{8A297B30-06DB-A449-99C6-207020969BBF}"/>
              </a:ext>
            </a:extLst>
          </p:cNvPr>
          <p:cNvSpPr/>
          <p:nvPr/>
        </p:nvSpPr>
        <p:spPr>
          <a:xfrm>
            <a:off x="7482147" y="3167217"/>
            <a:ext cx="2344103" cy="94313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188B89-8471-7A43-870F-D6983CD057F6}"/>
              </a:ext>
            </a:extLst>
          </p:cNvPr>
          <p:cNvSpPr txBox="1"/>
          <p:nvPr/>
        </p:nvSpPr>
        <p:spPr>
          <a:xfrm>
            <a:off x="7589678" y="3475094"/>
            <a:ext cx="2236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194871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B10F-355A-3442-8CA6-9A66B7DED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9643"/>
          </a:xfrm>
        </p:spPr>
        <p:txBody>
          <a:bodyPr/>
          <a:lstStyle/>
          <a:p>
            <a:r>
              <a:rPr lang="en-US" dirty="0"/>
              <a:t>Market Basket Analysis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DE4233-060C-F74D-B66F-C7C1FD165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1952"/>
            <a:ext cx="8596668" cy="4667702"/>
          </a:xfrm>
        </p:spPr>
        <p:txBody>
          <a:bodyPr>
            <a:normAutofit/>
          </a:bodyPr>
          <a:lstStyle/>
          <a:p>
            <a:r>
              <a:rPr lang="en-IN" dirty="0"/>
              <a:t>Identify cross selling products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Evaluation metrics - Support, Lift and Confidence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Associated items </a:t>
            </a:r>
          </a:p>
          <a:p>
            <a:pPr lvl="1"/>
            <a:r>
              <a:rPr lang="en-IN" dirty="0"/>
              <a:t>SPACEBOY CHILDRENS CUP and SPACEBOY CHILDRENS BOWL</a:t>
            </a:r>
          </a:p>
          <a:p>
            <a:pPr lvl="1"/>
            <a:r>
              <a:rPr lang="en-IN" dirty="0"/>
              <a:t>CHILDRENS CUTLERY SPACEBOY and CHILDRENS CUTLERY DOLLY GIRL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sz="1900" b="1" dirty="0">
                <a:solidFill>
                  <a:schemeClr val="accent5">
                    <a:lumMod val="75000"/>
                  </a:schemeClr>
                </a:solidFill>
              </a:rPr>
              <a:t>What we have used?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Apriori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88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73EC4-C34F-BD44-866B-27D6CD683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91327-08BB-4344-BA35-6CC7AC8A6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7530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Flask APIs</a:t>
            </a:r>
          </a:p>
          <a:p>
            <a:pPr lvl="1"/>
            <a:r>
              <a:rPr lang="en-US" dirty="0" err="1"/>
              <a:t>popularItems</a:t>
            </a:r>
            <a:endParaRPr lang="en-US" dirty="0"/>
          </a:p>
          <a:p>
            <a:pPr lvl="1"/>
            <a:r>
              <a:rPr lang="en-US" dirty="0" err="1"/>
              <a:t>contentBased</a:t>
            </a:r>
            <a:endParaRPr lang="en-US" dirty="0"/>
          </a:p>
          <a:p>
            <a:pPr lvl="1"/>
            <a:r>
              <a:rPr lang="en-US" dirty="0" err="1"/>
              <a:t>collabBasedItem</a:t>
            </a:r>
            <a:endParaRPr lang="en-US" dirty="0"/>
          </a:p>
          <a:p>
            <a:pPr lvl="1"/>
            <a:r>
              <a:rPr lang="en-US" dirty="0" err="1"/>
              <a:t>collabBasedUser</a:t>
            </a:r>
            <a:endParaRPr lang="en-US" dirty="0"/>
          </a:p>
          <a:p>
            <a:pPr lvl="1"/>
            <a:r>
              <a:rPr lang="en-US" dirty="0" err="1"/>
              <a:t>hybridBased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Visualize the recommendations</a:t>
            </a:r>
          </a:p>
          <a:p>
            <a:pPr lvl="1"/>
            <a:r>
              <a:rPr lang="en-US" dirty="0" err="1"/>
              <a:t>Javascript</a:t>
            </a:r>
            <a:endParaRPr lang="en-US" dirty="0"/>
          </a:p>
          <a:p>
            <a:pPr lvl="1"/>
            <a:r>
              <a:rPr lang="en-US" dirty="0"/>
              <a:t>REST Client</a:t>
            </a:r>
          </a:p>
        </p:txBody>
      </p:sp>
    </p:spTree>
    <p:extLst>
      <p:ext uri="{BB962C8B-B14F-4D97-AF65-F5344CB8AC3E}">
        <p14:creationId xmlns:p14="http://schemas.microsoft.com/office/powerpoint/2010/main" val="3526730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16BF-86DD-4E44-B5BA-DF7734BA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0638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5560C-CA21-8042-880A-05C0F93B9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6391"/>
            <a:ext cx="8596668" cy="419310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Enhance with product category level recommendations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Improvise content based filtering using different NLP techniques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Derive new feature (rating scale) from the quantity feature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Fine tune the model based on the frequency [start of a week/month] of purchase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Extend and evaluate other techniques of clustering and classification (may be random forest)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Model return transactions to draw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2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63A0B-B4CC-494C-B4A1-0515C6DA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966" y="2438400"/>
            <a:ext cx="3042050" cy="1320800"/>
          </a:xfrm>
        </p:spPr>
        <p:txBody>
          <a:bodyPr/>
          <a:lstStyle/>
          <a:p>
            <a:r>
              <a:rPr lang="en-US" dirty="0"/>
              <a:t>Questions ???</a:t>
            </a:r>
          </a:p>
        </p:txBody>
      </p:sp>
    </p:spTree>
    <p:extLst>
      <p:ext uri="{BB962C8B-B14F-4D97-AF65-F5344CB8AC3E}">
        <p14:creationId xmlns:p14="http://schemas.microsoft.com/office/powerpoint/2010/main" val="2399652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C5880-A3E9-324C-83CE-CF3718C9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961" y="2364260"/>
            <a:ext cx="2572493" cy="1320800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4365607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217</TotalTime>
  <Words>540</Words>
  <Application>Microsoft Macintosh PowerPoint</Application>
  <PresentationFormat>Widescreen</PresentationFormat>
  <Paragraphs>152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RECOMMENDER SYSTEM</vt:lpstr>
      <vt:lpstr>Agenda</vt:lpstr>
      <vt:lpstr>What and Why</vt:lpstr>
      <vt:lpstr>Data  </vt:lpstr>
      <vt:lpstr>Approaches</vt:lpstr>
      <vt:lpstr>Popularity based</vt:lpstr>
      <vt:lpstr>Content based</vt:lpstr>
      <vt:lpstr>Collaborative filtering</vt:lpstr>
      <vt:lpstr>PowerPoint Presentation</vt:lpstr>
      <vt:lpstr>PowerPoint Presentation</vt:lpstr>
      <vt:lpstr>Hybrid</vt:lpstr>
      <vt:lpstr>Market Basket Analysis</vt:lpstr>
      <vt:lpstr>Demo</vt:lpstr>
      <vt:lpstr>Future Work</vt:lpstr>
      <vt:lpstr>Questions ???</vt:lpstr>
      <vt:lpstr>Thank You!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RECOMMENDER SYSTEM</dc:title>
  <dc:creator>Microsoft Office User</dc:creator>
  <cp:lastModifiedBy>Microsoft Office User</cp:lastModifiedBy>
  <cp:revision>47</cp:revision>
  <dcterms:created xsi:type="dcterms:W3CDTF">2020-03-03T02:38:17Z</dcterms:created>
  <dcterms:modified xsi:type="dcterms:W3CDTF">2020-03-03T06:15:17Z</dcterms:modified>
</cp:coreProperties>
</file>